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4"/>
  </p:notesMasterIdLst>
  <p:sldIdLst>
    <p:sldId id="256" r:id="rId2"/>
    <p:sldId id="279" r:id="rId3"/>
    <p:sldId id="258" r:id="rId4"/>
    <p:sldId id="260" r:id="rId5"/>
    <p:sldId id="261" r:id="rId6"/>
    <p:sldId id="263" r:id="rId7"/>
    <p:sldId id="280" r:id="rId8"/>
    <p:sldId id="262" r:id="rId9"/>
    <p:sldId id="282" r:id="rId10"/>
    <p:sldId id="283" r:id="rId11"/>
    <p:sldId id="264" r:id="rId12"/>
    <p:sldId id="284" r:id="rId13"/>
    <p:sldId id="285" r:id="rId14"/>
    <p:sldId id="265" r:id="rId15"/>
    <p:sldId id="281" r:id="rId16"/>
    <p:sldId id="267" r:id="rId17"/>
    <p:sldId id="269" r:id="rId18"/>
    <p:sldId id="270" r:id="rId19"/>
    <p:sldId id="288" r:id="rId20"/>
    <p:sldId id="289" r:id="rId21"/>
    <p:sldId id="290" r:id="rId22"/>
    <p:sldId id="278" r:id="rId23"/>
  </p:sldIdLst>
  <p:sldSz cx="113411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C16A3BC-C9E7-450C-8001-C33E0492A25E}">
          <p14:sldIdLst>
            <p14:sldId id="256"/>
            <p14:sldId id="279"/>
            <p14:sldId id="258"/>
            <p14:sldId id="260"/>
            <p14:sldId id="261"/>
            <p14:sldId id="263"/>
          </p14:sldIdLst>
        </p14:section>
        <p14:section name="Untitled Section" id="{D3D9B492-FF88-4F77-BCD3-C1AACF4964D5}">
          <p14:sldIdLst>
            <p14:sldId id="280"/>
          </p14:sldIdLst>
        </p14:section>
        <p14:section name="Untitled Section" id="{B38CD2D8-6A86-43BD-AE4E-54C0531788CD}">
          <p14:sldIdLst>
            <p14:sldId id="262"/>
            <p14:sldId id="282"/>
            <p14:sldId id="283"/>
            <p14:sldId id="264"/>
            <p14:sldId id="284"/>
            <p14:sldId id="285"/>
            <p14:sldId id="265"/>
            <p14:sldId id="281"/>
            <p14:sldId id="267"/>
            <p14:sldId id="269"/>
            <p14:sldId id="270"/>
            <p14:sldId id="288"/>
            <p14:sldId id="289"/>
            <p14:sldId id="290"/>
          </p14:sldIdLst>
        </p14:section>
        <p14:section name="Untitled Section" id="{11F9A0AB-D546-4186-A82E-5E88D3E0751A}">
          <p14:sldIdLst>
            <p14:sldId id="2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B9FF"/>
    <a:srgbClr val="A7D971"/>
    <a:srgbClr val="AA71D5"/>
    <a:srgbClr val="7A34AE"/>
    <a:srgbClr val="FFABAB"/>
    <a:srgbClr val="800080"/>
    <a:srgbClr val="3219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993" autoAdjust="0"/>
    <p:restoredTop sz="86423" autoAdjust="0"/>
  </p:normalViewPr>
  <p:slideViewPr>
    <p:cSldViewPr>
      <p:cViewPr>
        <p:scale>
          <a:sx n="75" d="100"/>
          <a:sy n="75" d="100"/>
        </p:scale>
        <p:origin x="-56" y="204"/>
      </p:cViewPr>
      <p:guideLst>
        <p:guide orient="horz" pos="2160"/>
        <p:guide pos="3573"/>
      </p:guideLst>
    </p:cSldViewPr>
  </p:slideViewPr>
  <p:outlineViewPr>
    <p:cViewPr>
      <p:scale>
        <a:sx n="33" d="100"/>
        <a:sy n="33" d="100"/>
      </p:scale>
      <p:origin x="52" y="9532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200" d="100"/>
        <a:sy n="200" d="100"/>
      </p:scale>
      <p:origin x="0" y="21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6F9A5-C95F-4DB8-A27D-4E1DCF88A106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93725" y="685800"/>
            <a:ext cx="56705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BBF3A-EFC7-425A-9E7E-EC06FD37CB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101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93725" y="685800"/>
            <a:ext cx="56705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9BBF3A-EFC7-425A-9E7E-EC06FD37CBD4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497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93725" y="685800"/>
            <a:ext cx="56705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9BBF3A-EFC7-425A-9E7E-EC06FD37CBD4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595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9BBF3A-EFC7-425A-9E7E-EC06FD37CBD4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98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113411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7E78-78F3-46A7-BF3A-87E765551477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A4F-7F90-4A4F-B1F8-17CEDF90031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147" y="3886200"/>
            <a:ext cx="793877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0584" y="2007893"/>
            <a:ext cx="9639935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075" y="274638"/>
            <a:ext cx="9828953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7E78-78F3-46A7-BF3A-87E765551477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A4F-7F90-4A4F-B1F8-17CEDF900310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756075" y="1600200"/>
            <a:ext cx="9828953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077" y="4962530"/>
            <a:ext cx="9779730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077" y="3462343"/>
            <a:ext cx="977973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7E78-78F3-46A7-BF3A-87E765551477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A4F-7F90-4A4F-B1F8-17CEDF90031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756075" y="1600200"/>
            <a:ext cx="4630949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5954078" y="1600200"/>
            <a:ext cx="4630949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075" y="274638"/>
            <a:ext cx="9828953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7E78-78F3-46A7-BF3A-87E765551477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A4F-7F90-4A4F-B1F8-17CEDF90031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5954078" y="2209800"/>
            <a:ext cx="4630949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756075" y="2209800"/>
            <a:ext cx="4630949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075" y="274638"/>
            <a:ext cx="9828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075" y="1600204"/>
            <a:ext cx="4630949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54078" y="1600204"/>
            <a:ext cx="4630949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7E78-78F3-46A7-BF3A-87E765551477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A4F-7F90-4A4F-B1F8-17CEDF90031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075" y="274638"/>
            <a:ext cx="9828953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7E78-78F3-46A7-BF3A-87E765551477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A4F-7F90-4A4F-B1F8-17CEDF90031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7E78-78F3-46A7-BF3A-87E765551477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A4F-7F90-4A4F-B1F8-17CEDF90031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914476" y="1447800"/>
            <a:ext cx="5765059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855" y="1447800"/>
            <a:ext cx="3685857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9855" y="2547895"/>
            <a:ext cx="3685857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7E78-78F3-46A7-BF3A-87E765551477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A4F-7F90-4A4F-B1F8-17CEDF90031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411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074" y="1447800"/>
            <a:ext cx="3685857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776400" y="1447800"/>
            <a:ext cx="4241572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6074" y="2547893"/>
            <a:ext cx="3685857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7E78-78F3-46A7-BF3A-87E765551477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A4F-7F90-4A4F-B1F8-17CEDF90031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7E78-78F3-46A7-BF3A-87E765551477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A4F-7F90-4A4F-B1F8-17CEDF90031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22297" y="274643"/>
            <a:ext cx="2551747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7055" y="274643"/>
            <a:ext cx="746622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7E78-78F3-46A7-BF3A-87E765551477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2AA4F-7F90-4A4F-B1F8-17CEDF900310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113411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6075" y="274638"/>
            <a:ext cx="9828953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075" y="1600205"/>
            <a:ext cx="982895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88187" y="6356355"/>
            <a:ext cx="18901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07A87E78-78F3-46A7-BF3A-87E765551477}" type="datetimeFigureOut">
              <a:rPr lang="en-IN" smtClean="0"/>
              <a:t>14-05-2026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6074" y="6356355"/>
            <a:ext cx="359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56408" y="6356355"/>
            <a:ext cx="12286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77D2AA4F-7F90-4A4F-B1F8-17CEDF900310}" type="slidenum">
              <a:rPr lang="en-IN" smtClean="0"/>
              <a:t>‹#›</a:t>
            </a:fld>
            <a:endParaRPr lang="en-IN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VTU-Logo-250×250 – SJB INSTITUTE OF TECHNOLOGY.">
            <a:extLst>
              <a:ext uri="{FF2B5EF4-FFF2-40B4-BE49-F238E27FC236}">
                <a16:creationId xmlns:a16="http://schemas.microsoft.com/office/drawing/2014/main" xmlns="" id="{0646FFE0-9AF8-4FC4-0166-5ABA37BCD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008" y="1558128"/>
            <a:ext cx="1071719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320256" y="2354483"/>
            <a:ext cx="10645183" cy="57606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200" b="1" dirty="0" smtClean="0">
                <a:solidFill>
                  <a:srgbClr val="FF0000"/>
                </a:solidFill>
                <a:ea typeface="Arial" pitchFamily="34" charset="-122"/>
                <a:cs typeface="Arial" pitchFamily="34" charset="-120"/>
              </a:rPr>
              <a:t>Internship on Artificial intelligence and machine learning</a:t>
            </a:r>
            <a:endParaRPr lang="en-US" sz="22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IN" sz="2000" b="1" dirty="0" smtClean="0">
                <a:solidFill>
                  <a:srgbClr val="FF0000"/>
                </a:solidFill>
                <a:ea typeface="Cambria" pitchFamily="18" charset="0"/>
                <a:cs typeface="Times New Roman" pitchFamily="18" charset="0"/>
              </a:rPr>
              <a:t>   </a:t>
            </a:r>
            <a:br>
              <a:rPr lang="en-IN" sz="2000" b="1" dirty="0" smtClean="0">
                <a:solidFill>
                  <a:srgbClr val="FF0000"/>
                </a:solidFill>
                <a:ea typeface="Cambria" pitchFamily="18" charset="0"/>
                <a:cs typeface="Times New Roman" pitchFamily="18" charset="0"/>
              </a:rPr>
            </a:br>
            <a:r>
              <a:rPr lang="en-IN" sz="2000" b="1" dirty="0" smtClean="0">
                <a:solidFill>
                  <a:srgbClr val="FF0000"/>
                </a:solidFill>
                <a:ea typeface="Cambria" pitchFamily="18" charset="0"/>
                <a:cs typeface="Times New Roman" pitchFamily="18" charset="0"/>
              </a:rPr>
              <a:t>  </a:t>
            </a:r>
            <a:br>
              <a:rPr lang="en-IN" sz="2000" b="1" dirty="0" smtClean="0">
                <a:solidFill>
                  <a:srgbClr val="FF0000"/>
                </a:solidFill>
                <a:ea typeface="Cambria" pitchFamily="18" charset="0"/>
                <a:cs typeface="Times New Roman" pitchFamily="18" charset="0"/>
              </a:rPr>
            </a:br>
            <a:r>
              <a:rPr lang="en-IN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itchFamily="18" charset="0"/>
              </a:rPr>
              <a:t/>
            </a:r>
            <a:br>
              <a:rPr lang="en-IN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itchFamily="18" charset="0"/>
              </a:rPr>
            </a:br>
            <a:r>
              <a:rPr lang="en-US" sz="2000" dirty="0" smtClean="0">
                <a:solidFill>
                  <a:srgbClr val="FF0000"/>
                </a:solidFill>
              </a:rPr>
              <a:t/>
            </a:r>
            <a:br>
              <a:rPr lang="en-US" sz="2000" dirty="0" smtClean="0">
                <a:solidFill>
                  <a:srgbClr val="FF0000"/>
                </a:solidFill>
              </a:rPr>
            </a:br>
            <a:endParaRPr lang="en-IN" sz="2000" dirty="0">
              <a:solidFill>
                <a:srgbClr val="FFC000"/>
              </a:solidFill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F35EFC7-A4B4-E1B5-8576-41F134AFB133}"/>
              </a:ext>
            </a:extLst>
          </p:cNvPr>
          <p:cNvSpPr txBox="1"/>
          <p:nvPr/>
        </p:nvSpPr>
        <p:spPr>
          <a:xfrm>
            <a:off x="-27702" y="256049"/>
            <a:ext cx="11368802" cy="46166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IN" sz="24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VISVESVARAYA TECHNOLOGICAL UNIVERSITY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FED4AA2-0DA5-E577-7A1F-1D1B7C3034F3}"/>
              </a:ext>
            </a:extLst>
          </p:cNvPr>
          <p:cNvSpPr txBox="1"/>
          <p:nvPr/>
        </p:nvSpPr>
        <p:spPr>
          <a:xfrm>
            <a:off x="-13851" y="691224"/>
            <a:ext cx="11341100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ELAGAVI-590018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06A0FC4-865D-7FF5-09AA-CA17ECB6B257}"/>
              </a:ext>
            </a:extLst>
          </p:cNvPr>
          <p:cNvSpPr txBox="1"/>
          <p:nvPr/>
        </p:nvSpPr>
        <p:spPr>
          <a:xfrm>
            <a:off x="-27702" y="1060556"/>
            <a:ext cx="11275140" cy="40011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 TARALABALU JAGADGURU INSTITUTE OF TECHNOLOGY RANEBENNUR-581115</a:t>
            </a:r>
            <a:endParaRPr lang="en-IN" sz="20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D95254F-0C88-8705-909F-8797A817CC89}"/>
              </a:ext>
            </a:extLst>
          </p:cNvPr>
          <p:cNvSpPr txBox="1"/>
          <p:nvPr/>
        </p:nvSpPr>
        <p:spPr>
          <a:xfrm>
            <a:off x="-54785" y="2932839"/>
            <a:ext cx="11368802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 OF ENGINEERING IN INFORMATION SCIENCE AND ENGINEERING</a:t>
            </a:r>
            <a:endParaRPr lang="en-IN" sz="1600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3CD877C-0D3E-387E-5540-4FB46B2AEEC0}"/>
              </a:ext>
            </a:extLst>
          </p:cNvPr>
          <p:cNvSpPr txBox="1"/>
          <p:nvPr/>
        </p:nvSpPr>
        <p:spPr>
          <a:xfrm>
            <a:off x="-52427" y="3298843"/>
            <a:ext cx="11368802" cy="55399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</a:t>
            </a:r>
            <a:r>
              <a:rPr lang="en-US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/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SUSHMA SURESH YAKKEGONDI(2SR22IS049)             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D7CE3660-8F0E-5975-02D7-0CBF1BD407A4}"/>
              </a:ext>
            </a:extLst>
          </p:cNvPr>
          <p:cNvGrpSpPr/>
          <p:nvPr/>
        </p:nvGrpSpPr>
        <p:grpSpPr>
          <a:xfrm>
            <a:off x="-223500" y="3894953"/>
            <a:ext cx="11613426" cy="1068673"/>
            <a:chOff x="-268264" y="4187184"/>
            <a:chExt cx="12500022" cy="1068673"/>
          </a:xfrm>
        </p:grpSpPr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010A3269-C5A5-413E-1EB2-26BF0D20B8E1}"/>
                </a:ext>
              </a:extLst>
            </p:cNvPr>
            <p:cNvSpPr txBox="1"/>
            <p:nvPr/>
          </p:nvSpPr>
          <p:spPr>
            <a:xfrm>
              <a:off x="-4966" y="4187184"/>
              <a:ext cx="12236724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</a:t>
              </a:r>
              <a:r>
                <a:rPr lang="en-US" sz="1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GUIDE                                                                                                              </a:t>
              </a:r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HEAD OF THE DEPARTMENT</a:t>
              </a:r>
              <a:endParaRPr lang="en-I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3F5B5FD5-924B-18A6-ACDD-7DA1133DF9E9}"/>
                </a:ext>
              </a:extLst>
            </p:cNvPr>
            <p:cNvSpPr txBox="1"/>
            <p:nvPr/>
          </p:nvSpPr>
          <p:spPr>
            <a:xfrm>
              <a:off x="-268264" y="4517193"/>
              <a:ext cx="12078394" cy="738664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       MR. </a:t>
              </a:r>
              <a:r>
                <a:rPr lang="en-US" sz="1400" dirty="0" smtClean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KARTHIK MORE                                                                                                             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DR. SAVITA R C </a:t>
              </a:r>
              <a:endPara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ea typeface="Calibri" pitchFamily="34" charset="0"/>
                  <a:cs typeface="Times New Roman" panose="02020603050405020304" pitchFamily="18" charset="0"/>
                </a:rPr>
                <a:t> </a:t>
              </a:r>
              <a:endParaRPr lang="en-US" sz="14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endParaRPr>
            </a:p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IN" sz="14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F954EFDA-ED99-E7ED-9036-FF42220640A7}"/>
              </a:ext>
            </a:extLst>
          </p:cNvPr>
          <p:cNvGrpSpPr/>
          <p:nvPr/>
        </p:nvGrpSpPr>
        <p:grpSpPr>
          <a:xfrm>
            <a:off x="27669" y="4594294"/>
            <a:ext cx="11362257" cy="616648"/>
            <a:chOff x="-127363" y="3931480"/>
            <a:chExt cx="12344709" cy="616648"/>
          </a:xfrm>
        </p:grpSpPr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279AF9CC-D977-1E1D-A17B-2435C7047D07}"/>
                </a:ext>
              </a:extLst>
            </p:cNvPr>
            <p:cNvSpPr txBox="1"/>
            <p:nvPr/>
          </p:nvSpPr>
          <p:spPr>
            <a:xfrm>
              <a:off x="25346" y="3931480"/>
              <a:ext cx="12192000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INTERNSHIP </a:t>
              </a:r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PROVIDER                          </a:t>
              </a:r>
              <a:r>
                <a:rPr 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                         CO-ORDINATOR </a:t>
              </a:r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 THE INTERNSHIP</a:t>
              </a:r>
              <a:endParaRPr lang="en-I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B9458426-7509-6A72-643D-21B88CB60DE2}"/>
                </a:ext>
              </a:extLst>
            </p:cNvPr>
            <p:cNvSpPr txBox="1"/>
            <p:nvPr/>
          </p:nvSpPr>
          <p:spPr>
            <a:xfrm>
              <a:off x="-127363" y="4240351"/>
              <a:ext cx="12192000" cy="307777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DYASHIN TECHNOSOFT PVT LTD                                                                                            MR. MUKKUND BHAT M </a:t>
              </a:r>
              <a:endParaRPr lang="en-IN" sz="140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640EAACA-E114-F73A-A4B3-AB88B6AB478E}"/>
              </a:ext>
            </a:extLst>
          </p:cNvPr>
          <p:cNvSpPr txBox="1"/>
          <p:nvPr/>
        </p:nvSpPr>
        <p:spPr>
          <a:xfrm>
            <a:off x="-20777" y="6093296"/>
            <a:ext cx="11354951" cy="646331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</a:t>
            </a:r>
            <a:r>
              <a:rPr 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endParaRPr lang="en-US" sz="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 TARALABALU JAGADGURU INSTITUTE OF TECHNOLOGY RANEBENNUR-581115</a:t>
            </a:r>
            <a:endParaRPr lang="en-IN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134" y="5033751"/>
            <a:ext cx="785039" cy="78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7669" y="5822629"/>
            <a:ext cx="11288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itchFamily="18" charset="0"/>
                <a:cs typeface="Times New Roman" pitchFamily="18" charset="0"/>
              </a:rPr>
              <a:t>2025-2026</a:t>
            </a:r>
          </a:p>
        </p:txBody>
      </p:sp>
    </p:spTree>
    <p:extLst>
      <p:ext uri="{BB962C8B-B14F-4D97-AF65-F5344CB8AC3E}">
        <p14:creationId xmlns:p14="http://schemas.microsoft.com/office/powerpoint/2010/main" val="137393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557982" y="404664"/>
            <a:ext cx="10225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 smtClean="0">
                <a:solidFill>
                  <a:schemeClr val="tx2"/>
                </a:solidFill>
                <a:latin typeface="Arial Black" pitchFamily="34" charset="0"/>
                <a:ea typeface="Arial" pitchFamily="34" charset="-122"/>
                <a:cs typeface="Arial" pitchFamily="34" charset="-120"/>
              </a:rPr>
              <a:t>ABOUT COMPANY</a:t>
            </a:r>
            <a:endParaRPr lang="en-US" sz="3200" dirty="0">
              <a:solidFill>
                <a:schemeClr val="tx2"/>
              </a:solidFill>
              <a:latin typeface="Arial Black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74006" y="1044744"/>
            <a:ext cx="9361040" cy="4236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lnSpc>
                <a:spcPct val="150000"/>
              </a:lnSpc>
              <a:buClr>
                <a:schemeClr val="tx2"/>
              </a:buClr>
              <a:buFont typeface="Wingdings" pitchFamily="2" charset="2"/>
              <a:buChar char="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am currently pursuing my internship at Dyashin Technosoft Private Limited, an IT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services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software development company based in Bengaluru, specializing in digital transformation, AI-driven innovation, and engineering services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Clr>
                <a:schemeClr val="tx2"/>
              </a:buClr>
              <a:buFont typeface="Wingdings" pitchFamily="2" charset="2"/>
              <a:buChar char="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Dyashin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has developed innovative products and platforms including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MediTrack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DSPristine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Sigo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Shine Chat, along with training and placement initiatives through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DSEdify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Clr>
                <a:schemeClr val="tx2"/>
              </a:buClr>
              <a:buFont typeface="Wingdings" pitchFamily="2" charset="2"/>
              <a:buChar char="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company has a global presence in India, USA, Australia,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UAE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follows quality standards with ISO 9001:2015 certification.</a:t>
            </a:r>
          </a:p>
          <a:p>
            <a:pPr marL="285750" indent="-285750" algn="just">
              <a:lnSpc>
                <a:spcPct val="150000"/>
              </a:lnSpc>
              <a:buClr>
                <a:schemeClr val="tx2"/>
              </a:buClr>
              <a:buFont typeface="Wingdings" pitchFamily="2" charset="2"/>
              <a:buChar char="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company is led by directors Madan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Kodagahalli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Dyamappa Praveen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Clr>
                <a:schemeClr val="tx2"/>
              </a:buClr>
              <a:buFont typeface="Wingdings" pitchFamily="2" charset="2"/>
              <a:buChar char="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Subsidiaries: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Includes DSEdify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DSJobby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00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074" y="365358"/>
            <a:ext cx="9828953" cy="831394"/>
          </a:xfrm>
        </p:spPr>
        <p:txBody>
          <a:bodyPr anchor="ctr"/>
          <a:lstStyle/>
          <a:p>
            <a:pPr algn="ctr"/>
            <a:r>
              <a:rPr lang="en-IN" cap="none" dirty="0" smtClean="0">
                <a:solidFill>
                  <a:schemeClr val="tx2"/>
                </a:solidFill>
                <a:latin typeface="Arial Black" pitchFamily="34" charset="0"/>
                <a:cs typeface="Times New Roman" pitchFamily="18" charset="0"/>
              </a:rPr>
              <a:t>INTERNSHIP OVERVIEW</a:t>
            </a:r>
            <a:endParaRPr lang="en-IN" sz="28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48754" y="2204864"/>
            <a:ext cx="5001355" cy="42484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IN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Learning Areas</a:t>
            </a:r>
            <a:endParaRPr lang="en-US" sz="2000" b="1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Programming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Analysis (NumPy, Pandas)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Visualization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Machine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Learning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Algorithms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1800" dirty="0">
              <a:latin typeface="Times New Roman" pitchFamily="18" charset="0"/>
              <a:ea typeface="Cambria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1800" dirty="0" smtClean="0">
              <a:latin typeface="Times New Roman" pitchFamily="18" charset="0"/>
              <a:ea typeface="Cambria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itchFamily="18" charset="0"/>
              <a:ea typeface="Cambria" pitchFamily="18" charset="0"/>
              <a:cs typeface="Calibri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sz="1600" dirty="0">
              <a:latin typeface="Cambria" pitchFamily="18" charset="0"/>
              <a:ea typeface="Cambria" pitchFamily="18" charset="0"/>
              <a:cs typeface="Calibri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24539" y="1124744"/>
            <a:ext cx="100811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internship focuses on Artificial Intelligence and Machine Learning (AIML) with hands-on experience in real-world projects, modern tools, data analysis techniques, and industry-oriented learning.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27791" y="2852936"/>
            <a:ext cx="4107256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Model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Training &amp; Testing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Tools and Frameworks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Deep Learning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1800" dirty="0" smtClean="0">
              <a:latin typeface="Times New Roman" pitchFamily="18" charset="0"/>
              <a:ea typeface="Cambria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1800" dirty="0" smtClean="0">
              <a:latin typeface="Times New Roman" pitchFamily="18" charset="0"/>
              <a:ea typeface="Cambria" pitchFamily="18" charset="0"/>
              <a:cs typeface="Times New Roman" pitchFamily="18" charset="0"/>
            </a:endParaRPr>
          </a:p>
          <a:p>
            <a:pPr marL="0" indent="0">
              <a:buFont typeface="Arial" pitchFamily="34" charset="0"/>
              <a:buNone/>
            </a:pPr>
            <a:endParaRPr lang="en-US" sz="1600" dirty="0" smtClean="0">
              <a:latin typeface="Cambria" pitchFamily="18" charset="0"/>
              <a:ea typeface="Cambria" pitchFamily="18" charset="0"/>
              <a:cs typeface="Calibri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sz="1600" dirty="0" smtClean="0">
              <a:latin typeface="Cambria" pitchFamily="18" charset="0"/>
              <a:ea typeface="Cambria" pitchFamily="18" charset="0"/>
              <a:cs typeface="Calibri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596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87703D5-0E70-EAFD-0817-AC5AE510A03A}"/>
              </a:ext>
            </a:extLst>
          </p:cNvPr>
          <p:cNvSpPr txBox="1"/>
          <p:nvPr/>
        </p:nvSpPr>
        <p:spPr>
          <a:xfrm>
            <a:off x="310011" y="502695"/>
            <a:ext cx="10717191" cy="55399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tx2"/>
                </a:solidFill>
                <a:latin typeface="Arial Black" pitchFamily="34" charset="0"/>
              </a:rPr>
              <a:t>INTERNSHIP OBJECTIVES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105620" y="1628800"/>
            <a:ext cx="90010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 gain practical experience in Artificial Intelligence, Machine Learning, Python programming, data analysis, and AI-based project development using real-world technologies.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itchFamily="2" charset="2"/>
              <a:buChar char="Ø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 improve technical, problem-solving, communication, and teamwork skills while understanding industry-oriented software development practices and career opportunities in AI and software development. </a:t>
            </a:r>
          </a:p>
        </p:txBody>
      </p:sp>
    </p:spTree>
    <p:extLst>
      <p:ext uri="{BB962C8B-B14F-4D97-AF65-F5344CB8AC3E}">
        <p14:creationId xmlns:p14="http://schemas.microsoft.com/office/powerpoint/2010/main" val="336701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9CCA209-4FA3-5F76-F30F-A373C70891E6}"/>
              </a:ext>
            </a:extLst>
          </p:cNvPr>
          <p:cNvSpPr txBox="1"/>
          <p:nvPr/>
        </p:nvSpPr>
        <p:spPr>
          <a:xfrm>
            <a:off x="310411" y="476672"/>
            <a:ext cx="10717191" cy="55399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tx2"/>
                </a:solidFill>
                <a:latin typeface="Arial Black" pitchFamily="34" charset="0"/>
                <a:cs typeface="Times New Roman" pitchFamily="18" charset="0"/>
              </a:rPr>
              <a:t>INTERNSHIP PROGRESS TIMELINE</a:t>
            </a:r>
          </a:p>
        </p:txBody>
      </p:sp>
      <p:sp>
        <p:nvSpPr>
          <p:cNvPr id="7" name="Shape 10"/>
          <p:cNvSpPr/>
          <p:nvPr/>
        </p:nvSpPr>
        <p:spPr>
          <a:xfrm>
            <a:off x="758505" y="1295499"/>
            <a:ext cx="4644116" cy="2133502"/>
          </a:xfrm>
          <a:prstGeom prst="roundRect">
            <a:avLst>
              <a:gd name="adj" fmla="val 3333"/>
            </a:avLst>
          </a:prstGeom>
          <a:solidFill>
            <a:schemeClr val="bg1">
              <a:lumMod val="85000"/>
              <a:lumOff val="15000"/>
            </a:schemeClr>
          </a:solidFill>
          <a:ln/>
        </p:spPr>
        <p:txBody>
          <a:bodyPr/>
          <a:lstStyle/>
          <a:p>
            <a:r>
              <a:rPr lang="en-IN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Phase 1</a:t>
            </a:r>
          </a:p>
          <a:p>
            <a:r>
              <a:rPr lang="en-IN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Python Programming</a:t>
            </a:r>
          </a:p>
          <a:p>
            <a:endParaRPr lang="en-IN" sz="11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chemeClr val="tx2"/>
              </a:buClr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Fundamentals (syntax, datatypes, loops, functions)</a:t>
            </a:r>
          </a:p>
          <a:p>
            <a:pPr marL="285750" indent="-285750">
              <a:buClr>
                <a:schemeClr val="tx2"/>
              </a:buClr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Try….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except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chemeClr val="tx2"/>
              </a:buClr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Classes and Objects.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58505" y="3789041"/>
            <a:ext cx="4644116" cy="2133502"/>
          </a:xfrm>
          <a:prstGeom prst="roundRect">
            <a:avLst>
              <a:gd name="adj" fmla="val 3333"/>
            </a:avLst>
          </a:prstGeom>
          <a:solidFill>
            <a:schemeClr val="bg1">
              <a:lumMod val="85000"/>
              <a:lumOff val="15000"/>
            </a:schemeClr>
          </a:solidFill>
          <a:ln/>
        </p:spPr>
        <p:txBody>
          <a:bodyPr/>
          <a:lstStyle/>
          <a:p>
            <a:r>
              <a:rPr lang="en-IN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Phase 3</a:t>
            </a:r>
          </a:p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Machine </a:t>
            </a:r>
            <a:r>
              <a:rPr lang="en-IN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Learning</a:t>
            </a:r>
          </a:p>
          <a:p>
            <a:endParaRPr lang="en-IN" sz="1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chemeClr val="tx2"/>
              </a:buCl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Supervised and Unsupervised algorithm.</a:t>
            </a:r>
          </a:p>
          <a:p>
            <a:pPr marL="285750" indent="-285750">
              <a:buClr>
                <a:schemeClr val="tx2"/>
              </a:buCl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Scikit-learn(train &amp; evaluate models)</a:t>
            </a:r>
          </a:p>
          <a:p>
            <a:pPr marL="285750" indent="-285750">
              <a:buClr>
                <a:schemeClr val="tx2"/>
              </a:buCl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Real-world datasets &amp; prediction.</a:t>
            </a:r>
            <a:endParaRPr lang="en-IN" b="1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chemeClr val="tx2"/>
              </a:buClr>
              <a:buFont typeface="Wingdings" pitchFamily="2" charset="2"/>
              <a:buChar char="Ø"/>
            </a:pPr>
            <a:endParaRPr lang="en-IN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17100" y="3789041"/>
            <a:ext cx="4554806" cy="2133502"/>
          </a:xfrm>
          <a:prstGeom prst="roundRect">
            <a:avLst>
              <a:gd name="adj" fmla="val 3333"/>
            </a:avLst>
          </a:prstGeom>
          <a:solidFill>
            <a:schemeClr val="bg1">
              <a:lumMod val="85000"/>
              <a:lumOff val="15000"/>
            </a:schemeClr>
          </a:solidFill>
          <a:ln/>
        </p:spPr>
        <p:txBody>
          <a:bodyPr/>
          <a:lstStyle/>
          <a:p>
            <a:r>
              <a:rPr lang="en-IN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Phase 4</a:t>
            </a:r>
          </a:p>
          <a:p>
            <a:r>
              <a:rPr lang="en-IN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Deep learning</a:t>
            </a:r>
          </a:p>
          <a:p>
            <a:endParaRPr lang="en-IN" sz="1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chemeClr val="tx2"/>
              </a:buCl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Models using tensorflow or keras.</a:t>
            </a:r>
          </a:p>
          <a:p>
            <a:pPr marL="285750" indent="-285750">
              <a:buClr>
                <a:schemeClr val="tx2"/>
              </a:buCl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Activation function, CNN,  RNN.</a:t>
            </a:r>
          </a:p>
          <a:p>
            <a:pPr>
              <a:buClr>
                <a:schemeClr val="tx2"/>
              </a:buClr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117100" y="1295499"/>
            <a:ext cx="4554806" cy="2133502"/>
          </a:xfrm>
          <a:prstGeom prst="roundRect">
            <a:avLst>
              <a:gd name="adj" fmla="val 3333"/>
            </a:avLst>
          </a:prstGeom>
          <a:solidFill>
            <a:schemeClr val="bg1">
              <a:lumMod val="85000"/>
              <a:lumOff val="15000"/>
            </a:schemeClr>
          </a:solidFill>
          <a:ln/>
        </p:spPr>
        <p:txBody>
          <a:bodyPr/>
          <a:lstStyle/>
          <a:p>
            <a:r>
              <a:rPr lang="en-IN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Phase 2</a:t>
            </a:r>
          </a:p>
          <a:p>
            <a:r>
              <a:rPr lang="en-IN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Libraries</a:t>
            </a:r>
            <a:endParaRPr lang="en-IN" b="1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100" b="1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chemeClr val="tx2"/>
              </a:buCl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handling( NumPy &amp; Pandas)</a:t>
            </a:r>
          </a:p>
          <a:p>
            <a:pPr marL="285750" indent="-285750">
              <a:buClr>
                <a:schemeClr val="tx2"/>
              </a:buCl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visualization ( Matplotlib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Seaborn)</a:t>
            </a:r>
          </a:p>
          <a:p>
            <a:pPr marL="285750" indent="-285750">
              <a:buClr>
                <a:schemeClr val="tx2"/>
              </a:buClr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Data preprocessing and cleaning.</a:t>
            </a:r>
          </a:p>
          <a:p>
            <a:pPr marL="285750" indent="-285750">
              <a:buFont typeface="Wingdings" pitchFamily="2" charset="2"/>
              <a:buChar char="Ø"/>
            </a:pPr>
            <a:endParaRPr lang="en-IN" b="1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IN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IN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80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65" y="404664"/>
            <a:ext cx="10081120" cy="696884"/>
          </a:xfrm>
        </p:spPr>
        <p:txBody>
          <a:bodyPr anchor="ctr"/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 Black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485974" y="1739766"/>
            <a:ext cx="3240360" cy="1689234"/>
          </a:xfrm>
          <a:prstGeom prst="roundRect">
            <a:avLst>
              <a:gd name="adj" fmla="val 7143"/>
            </a:avLst>
          </a:prstGeom>
          <a:solidFill>
            <a:srgbClr val="1B3A4B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Linear Regression</a:t>
            </a:r>
          </a:p>
          <a:p>
            <a:endParaRPr lang="en-US" sz="10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predicting continuous values</a:t>
            </a:r>
          </a:p>
          <a:p>
            <a:pPr lvl="0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Mean Squared Error, R-Squared</a:t>
            </a:r>
          </a:p>
          <a:p>
            <a:pPr lvl="0"/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4138587" y="1751148"/>
            <a:ext cx="3240360" cy="1689234"/>
          </a:xfrm>
          <a:prstGeom prst="roundRect">
            <a:avLst>
              <a:gd name="adj" fmla="val 7143"/>
            </a:avLst>
          </a:prstGeom>
          <a:solidFill>
            <a:srgbClr val="1B3A4B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Logistic 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Regression</a:t>
            </a:r>
          </a:p>
          <a:p>
            <a:endParaRPr lang="en-US" sz="1000" dirty="0"/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Predicting categorical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probabilities.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Accuracy and Confusion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Matrix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7758782" y="1751148"/>
            <a:ext cx="3240360" cy="1689234"/>
          </a:xfrm>
          <a:prstGeom prst="roundRect">
            <a:avLst>
              <a:gd name="adj" fmla="val 7143"/>
            </a:avLst>
          </a:prstGeom>
          <a:solidFill>
            <a:srgbClr val="1B3A4B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Decision Tree</a:t>
            </a:r>
            <a:endParaRPr lang="en-US" u="sng" dirty="0">
              <a:latin typeface="Times New Roman" pitchFamily="18" charset="0"/>
              <a:cs typeface="Times New Roman" pitchFamily="18" charset="0"/>
            </a:endParaRPr>
          </a:p>
          <a:p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Splitting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data Hierarchically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Classification and Regression</a:t>
            </a:r>
          </a:p>
          <a:p>
            <a:pPr lvl="0"/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4138587" y="3913624"/>
            <a:ext cx="3240360" cy="1689234"/>
          </a:xfrm>
          <a:prstGeom prst="roundRect">
            <a:avLst>
              <a:gd name="adj" fmla="val 7143"/>
            </a:avLst>
          </a:prstGeom>
          <a:solidFill>
            <a:srgbClr val="1B3A4B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KNN</a:t>
            </a:r>
          </a:p>
          <a:p>
            <a:endParaRPr lang="en-US" sz="1000" u="sng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Distance based classification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Accuracy </a:t>
            </a:r>
          </a:p>
          <a:p>
            <a:pPr lvl="0"/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485974" y="3883794"/>
            <a:ext cx="3240360" cy="1689234"/>
          </a:xfrm>
          <a:prstGeom prst="roundRect">
            <a:avLst>
              <a:gd name="adj" fmla="val 7143"/>
            </a:avLst>
          </a:prstGeom>
          <a:solidFill>
            <a:srgbClr val="1B3A4B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Random Forest </a:t>
            </a:r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000" u="sng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Averaging multiple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trees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ensemble, prevent overfitting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85974" y="1124744"/>
            <a:ext cx="64087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Supervised Learning </a:t>
            </a:r>
            <a:r>
              <a:rPr lang="en-US" sz="2200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Algorithms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35275" y="3105835"/>
            <a:ext cx="567055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>
              <a:solidFill>
                <a:srgbClr val="00B0F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55481" y="1235311"/>
            <a:ext cx="3240360" cy="1689234"/>
          </a:xfrm>
          <a:prstGeom prst="roundRect">
            <a:avLst>
              <a:gd name="adj" fmla="val 7143"/>
            </a:avLst>
          </a:prstGeom>
          <a:solidFill>
            <a:srgbClr val="1B3A4B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pPr lvl="0"/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K-Means</a:t>
            </a:r>
            <a:r>
              <a:rPr lang="en-US" u="sng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u="sng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1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Clustering model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nertia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metric, partitioning data</a:t>
            </a:r>
          </a:p>
        </p:txBody>
      </p:sp>
      <p:sp>
        <p:nvSpPr>
          <p:cNvPr id="7" name="Shape 3"/>
          <p:cNvSpPr/>
          <p:nvPr/>
        </p:nvSpPr>
        <p:spPr>
          <a:xfrm>
            <a:off x="7525393" y="3535211"/>
            <a:ext cx="3240360" cy="1689234"/>
          </a:xfrm>
          <a:prstGeom prst="roundRect">
            <a:avLst>
              <a:gd name="adj" fmla="val 7143"/>
            </a:avLst>
          </a:prstGeom>
          <a:solidFill>
            <a:srgbClr val="1B3A4B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pPr lvl="0"/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XGBoost</a:t>
            </a:r>
            <a:r>
              <a:rPr lang="en-US" u="sng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u="sng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1000" u="sng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supervised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boosting model, accuracy metric, prediction tasks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3"/>
          <p:cNvSpPr/>
          <p:nvPr/>
        </p:nvSpPr>
        <p:spPr>
          <a:xfrm>
            <a:off x="452921" y="3538888"/>
            <a:ext cx="3240360" cy="1689234"/>
          </a:xfrm>
          <a:prstGeom prst="roundRect">
            <a:avLst>
              <a:gd name="adj" fmla="val 7143"/>
            </a:avLst>
          </a:prstGeom>
          <a:solidFill>
            <a:srgbClr val="1B3A4B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PCA</a:t>
            </a:r>
            <a:r>
              <a:rPr lang="en-US" u="sng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Dimensionality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reduction, variance metric, feature extraction</a:t>
            </a:r>
          </a:p>
        </p:txBody>
      </p:sp>
      <p:sp>
        <p:nvSpPr>
          <p:cNvPr id="9" name="Shape 3"/>
          <p:cNvSpPr/>
          <p:nvPr/>
        </p:nvSpPr>
        <p:spPr>
          <a:xfrm>
            <a:off x="3942358" y="1217084"/>
            <a:ext cx="3240360" cy="1689234"/>
          </a:xfrm>
          <a:prstGeom prst="roundRect">
            <a:avLst>
              <a:gd name="adj" fmla="val 7143"/>
            </a:avLst>
          </a:prstGeom>
          <a:solidFill>
            <a:srgbClr val="1B3A4B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pPr lvl="0"/>
            <a:r>
              <a:rPr lang="en-IN" b="1" u="sng" dirty="0" smtClean="0">
                <a:latin typeface="Times New Roman" pitchFamily="18" charset="0"/>
                <a:cs typeface="Times New Roman" pitchFamily="18" charset="0"/>
              </a:rPr>
              <a:t>Hierarchical Clustering</a:t>
            </a:r>
            <a:r>
              <a:rPr lang="en-IN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IN" sz="1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lustering model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endrogram, nested grouping data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3"/>
          <p:cNvSpPr/>
          <p:nvPr/>
        </p:nvSpPr>
        <p:spPr>
          <a:xfrm>
            <a:off x="4050370" y="3538888"/>
            <a:ext cx="3240360" cy="1689234"/>
          </a:xfrm>
          <a:prstGeom prst="roundRect">
            <a:avLst>
              <a:gd name="adj" fmla="val 7143"/>
            </a:avLst>
          </a:prstGeom>
          <a:solidFill>
            <a:srgbClr val="1B3A4B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pPr lvl="0"/>
            <a:r>
              <a:rPr lang="en-IN" b="1" u="sng" dirty="0">
                <a:latin typeface="Times New Roman" pitchFamily="18" charset="0"/>
                <a:cs typeface="Times New Roman" pitchFamily="18" charset="0"/>
              </a:rPr>
              <a:t>Apriori Algorithm</a:t>
            </a:r>
            <a:r>
              <a:rPr lang="en-IN" u="sng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IN" sz="1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ssociation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rule mining, support confidence, market basket analysis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511856" y="1207459"/>
            <a:ext cx="3240360" cy="1689234"/>
          </a:xfrm>
          <a:prstGeom prst="roundRect">
            <a:avLst>
              <a:gd name="adj" fmla="val 7143"/>
            </a:avLst>
          </a:prstGeom>
          <a:solidFill>
            <a:srgbClr val="1B3A4B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pPr lvl="0"/>
            <a:r>
              <a:rPr lang="en-IN" b="1" dirty="0">
                <a:latin typeface="Times New Roman" pitchFamily="18" charset="0"/>
                <a:cs typeface="Times New Roman" pitchFamily="18" charset="0"/>
              </a:rPr>
              <a:t>DBSCAN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IN" sz="1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ensity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clustering, silhouette score, noise handling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5480" y="561128"/>
            <a:ext cx="553109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Uns</a:t>
            </a:r>
            <a:r>
              <a:rPr lang="en-US" sz="2200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upervised </a:t>
            </a:r>
            <a:r>
              <a:rPr lang="en-US" sz="2200" b="1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Learning </a:t>
            </a:r>
            <a:r>
              <a:rPr lang="en-US" sz="2200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Algorithms</a:t>
            </a:r>
          </a:p>
          <a:p>
            <a:endParaRPr lang="en-US" b="1" dirty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44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990" y="305444"/>
            <a:ext cx="10081120" cy="819300"/>
          </a:xfrm>
        </p:spPr>
        <p:txBody>
          <a:bodyPr anchor="ctr"/>
          <a:lstStyle/>
          <a:p>
            <a:pPr algn="ctr"/>
            <a:r>
              <a:rPr lang="en-US" b="1" dirty="0" smtClean="0">
                <a:solidFill>
                  <a:schemeClr val="tx2"/>
                </a:solidFill>
                <a:latin typeface="Arial Black" pitchFamily="34" charset="0"/>
                <a:cs typeface="Arial" pitchFamily="34" charset="-120"/>
              </a:rPr>
              <a:t/>
            </a:r>
            <a:br>
              <a:rPr lang="en-US" b="1" dirty="0" smtClean="0">
                <a:solidFill>
                  <a:schemeClr val="tx2"/>
                </a:solidFill>
                <a:latin typeface="Arial Black" pitchFamily="34" charset="0"/>
                <a:cs typeface="Arial" pitchFamily="34" charset="-120"/>
              </a:rPr>
            </a:br>
            <a:r>
              <a:rPr lang="en-US" b="1" dirty="0" smtClean="0">
                <a:solidFill>
                  <a:schemeClr val="tx2"/>
                </a:solidFill>
                <a:latin typeface="Arial Black" pitchFamily="34" charset="0"/>
                <a:cs typeface="Arial" pitchFamily="34" charset="-120"/>
              </a:rPr>
              <a:t>Deep Learning</a:t>
            </a:r>
            <a:r>
              <a:rPr lang="en-US" sz="2800" dirty="0"/>
              <a:t/>
            </a:r>
            <a:br>
              <a:rPr lang="en-US" sz="2800" dirty="0"/>
            </a:b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750" y="2342471"/>
            <a:ext cx="3840427" cy="1953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29990" y="2234097"/>
            <a:ext cx="5256584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used for image and visual data processing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uses convolution layers to automatically extract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features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like edges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patterns.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mage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classification, object detection, and vision tasks.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1998" y="1453292"/>
            <a:ext cx="42546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Convolutional Neural </a:t>
            </a:r>
            <a:r>
              <a:rPr lang="en-IN" sz="24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225524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756075" y="1600200"/>
            <a:ext cx="9828953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Prediction may not be 100% accurate.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Depends heavily on quality of past data.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Requires technical skills and tools.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High initial setup cost.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Privacy and data security concerns.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56075" y="892313"/>
            <a:ext cx="396044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Recurrent Neural </a:t>
            </a:r>
            <a:r>
              <a:rPr lang="en-IN" sz="24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Network</a:t>
            </a:r>
          </a:p>
          <a:p>
            <a:r>
              <a:rPr lang="en-IN" sz="20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IN" sz="2000" b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582" y="1772816"/>
            <a:ext cx="3840427" cy="1993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221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0673" y="1484784"/>
            <a:ext cx="54006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Long Short-Term Memory (LSTM</a:t>
            </a:r>
            <a:r>
              <a:rPr lang="en-US" sz="24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400" b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LSTM is an advanced type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RNN.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solves vanishing gradient and long-term memory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issues.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 long sequence data like language translation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679" y="2132856"/>
            <a:ext cx="3456384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161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990" y="185736"/>
            <a:ext cx="10081120" cy="1052736"/>
          </a:xfrm>
        </p:spPr>
        <p:txBody>
          <a:bodyPr anchor="ctr"/>
          <a:lstStyle/>
          <a:p>
            <a:pPr algn="ctr"/>
            <a:r>
              <a:rPr lang="en-IN" sz="3200" dirty="0">
                <a:solidFill>
                  <a:schemeClr val="tx2"/>
                </a:solidFill>
                <a:latin typeface="Arial Black" panose="020B0A04020102020204" pitchFamily="34" charset="0"/>
              </a:rPr>
              <a:t>PROJECTS</a:t>
            </a:r>
            <a:endParaRPr lang="en-IN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57982" y="1340768"/>
            <a:ext cx="10081120" cy="1143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cap="none" dirty="0" smtClean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Title: “</a:t>
            </a:r>
            <a:r>
              <a:rPr lang="en-US" sz="2400" b="1" dirty="0" smtClean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Invoice Fraud Detection &amp; Financial Anomaly Monitoring </a:t>
            </a:r>
            <a:r>
              <a:rPr lang="en-US" sz="2400" b="1" dirty="0" smtClean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”</a:t>
            </a:r>
            <a:endParaRPr lang="en-IN" sz="2400" cap="none" dirty="0">
              <a:solidFill>
                <a:schemeClr val="accent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8022" y="2636912"/>
            <a:ext cx="90730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endParaRPr lang="en-US" sz="1000" b="1" dirty="0" smtClean="0">
              <a:solidFill>
                <a:schemeClr val="accent4"/>
              </a:solidFill>
            </a:endParaRPr>
          </a:p>
          <a:p>
            <a:endParaRPr lang="en-US" sz="1000" b="1" dirty="0" smtClean="0">
              <a:solidFill>
                <a:schemeClr val="accent4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Manual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invoice verification is slow and may miss fraudulent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transactions. Traditional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systems cannot efficiently detect hidden financial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anomalies. This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project uses Machine Learning to automatically detect invoice fraud and improve financial security.</a:t>
            </a:r>
            <a:endParaRPr lang="en-US" b="1" dirty="0" smtClean="0">
              <a:solidFill>
                <a:schemeClr val="accent4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accent2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0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28541" y="734751"/>
            <a:ext cx="4494171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69" y="1885919"/>
            <a:ext cx="28352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React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Next.js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Tailwind CSS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/>
              <a:t>TypeScript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74005" y="1530884"/>
            <a:ext cx="19590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Frontend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973364" y="1889510"/>
            <a:ext cx="1242648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Routes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Node.js 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8342" y="1504747"/>
            <a:ext cx="17430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chemeClr val="accent6"/>
                </a:solidFill>
              </a:rP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7910" y="1904790"/>
            <a:ext cx="23762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-learn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Pandas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NumPy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34646" y="1511058"/>
            <a:ext cx="20120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169951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01998" y="764704"/>
            <a:ext cx="3240360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Algorithms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8022" y="1484784"/>
            <a:ext cx="216024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Fraud Detection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295822" y="1978714"/>
            <a:ext cx="2371162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Logistic Regression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Random Forest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Decision Tree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Gradient Boosting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2518" y="1992615"/>
            <a:ext cx="5670550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Isolation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Forest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DBSCAN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Z-Score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4876" y="1484784"/>
            <a:ext cx="207620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61065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29335" y="764703"/>
            <a:ext cx="9217024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 smtClean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sz="1000" b="1" dirty="0">
              <a:solidFill>
                <a:schemeClr val="accent4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33814" y="1387898"/>
            <a:ext cx="344838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Collect dataset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Clean and preprocess data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Split train and test data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Train ML models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Test model accuracy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Build frontend dashboard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Integrate backend APIs 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Wingdings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Display fraud prediction results </a:t>
            </a:r>
          </a:p>
        </p:txBody>
      </p:sp>
    </p:spTree>
    <p:extLst>
      <p:ext uri="{BB962C8B-B14F-4D97-AF65-F5344CB8AC3E}">
        <p14:creationId xmlns:p14="http://schemas.microsoft.com/office/powerpoint/2010/main" val="288076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29990" y="654569"/>
            <a:ext cx="1872208" cy="864096"/>
          </a:xfrm>
        </p:spPr>
        <p:txBody>
          <a:bodyPr anchor="ctr"/>
          <a:lstStyle/>
          <a:p>
            <a:r>
              <a:rPr lang="en-IN" sz="2200" b="1" dirty="0" smtClean="0">
                <a:solidFill>
                  <a:schemeClr val="accent4"/>
                </a:solidFill>
                <a:latin typeface="Times New Roman" pitchFamily="18" charset="0"/>
                <a:cs typeface="Times New Roman" pitchFamily="18" charset="0"/>
              </a:rPr>
              <a:t>Result</a:t>
            </a:r>
            <a:endParaRPr lang="en-IN" sz="2200" b="1" dirty="0">
              <a:solidFill>
                <a:schemeClr val="accent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78062" y="1528809"/>
            <a:ext cx="2088232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1. Register Page</a:t>
            </a:r>
            <a:endParaRPr lang="en-IN" b="1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46614" y="1529942"/>
            <a:ext cx="187220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  2. Login Page</a:t>
            </a:r>
            <a:endParaRPr lang="en-IN" b="1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6654" y="2365714"/>
            <a:ext cx="3672408" cy="221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 descr="C:\Users\DELL\Pictures\Screenshots\Screenshot 2026-05-10 17591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102" y="2365714"/>
            <a:ext cx="3672408" cy="221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74006" y="4983765"/>
            <a:ext cx="7200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Login page used for secure user authentication and account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access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Registration page used for new user account creation and profile setup.</a:t>
            </a:r>
          </a:p>
        </p:txBody>
      </p:sp>
    </p:spTree>
    <p:extLst>
      <p:ext uri="{BB962C8B-B14F-4D97-AF65-F5344CB8AC3E}">
        <p14:creationId xmlns:p14="http://schemas.microsoft.com/office/powerpoint/2010/main" val="383819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9990" y="836712"/>
            <a:ext cx="1728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. User Input</a:t>
            </a:r>
            <a:endParaRPr lang="en-IN" b="1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57082" y="855340"/>
            <a:ext cx="1762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Input Details</a:t>
            </a:r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IN" b="1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C:\Users\DELL\Pictures\Screenshots\Screenshot 2026-05-10 180146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26" y="1451764"/>
            <a:ext cx="3852428" cy="2193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C:\Users\DELL\Pictures\Screenshots\Screenshot 2026-05-10 180146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638" y="1440134"/>
            <a:ext cx="3744416" cy="21212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811217" y="4005064"/>
            <a:ext cx="73463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ortal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used to select invoice IDs for authenticity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validation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User input form containing invoice details submitted for verification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936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01997" y="836712"/>
            <a:ext cx="2050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. Safe Verification</a:t>
            </a:r>
            <a:endParaRPr lang="en-IN" b="1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34646" y="881441"/>
            <a:ext cx="22770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6. High Risk Invoice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997657" y="1468963"/>
            <a:ext cx="4192121" cy="2479913"/>
          </a:xfrm>
          <a:prstGeom prst="rect">
            <a:avLst/>
          </a:prstGeom>
        </p:spPr>
      </p:pic>
      <p:pic>
        <p:nvPicPr>
          <p:cNvPr id="8" name="Picture 7" descr="C:\Users\DELL\Pictures\Screenshots\Screenshot 2026-05-10 164139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630" y="1469774"/>
            <a:ext cx="4176464" cy="24791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875846" y="4390350"/>
            <a:ext cx="846711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accent4"/>
              </a:buClr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Risk Assessment Page displayed 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- Two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possible outcomes:</a:t>
            </a:r>
          </a:p>
          <a:p>
            <a:r>
              <a:rPr lang="en-IN" dirty="0" smtClean="0"/>
              <a:t>      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350070" y="4797152"/>
            <a:ext cx="712879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LEGIT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→ "CLEARED" with low risk score, all checks passed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FRAUD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→ "FRAUD DETECTED &amp; BLOCKED" with risk score, anomaly type, exposure</a:t>
            </a:r>
          </a:p>
        </p:txBody>
      </p:sp>
    </p:spTree>
    <p:extLst>
      <p:ext uri="{BB962C8B-B14F-4D97-AF65-F5344CB8AC3E}">
        <p14:creationId xmlns:p14="http://schemas.microsoft.com/office/powerpoint/2010/main" val="184101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990" y="692696"/>
            <a:ext cx="4104456" cy="556411"/>
          </a:xfrm>
        </p:spPr>
        <p:txBody>
          <a:bodyPr anchor="ctr"/>
          <a:lstStyle/>
          <a:p>
            <a:r>
              <a:rPr lang="en-IN" sz="2200" b="1" cap="none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200" b="1" cap="none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1800" b="1" cap="none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en-IN" sz="1800" b="1" cap="none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IN" sz="1800" b="1" cap="none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erification Page for safe invoice</a:t>
            </a:r>
            <a:r>
              <a:rPr lang="en-IN" sz="2200" b="1" cap="none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200" b="1" cap="none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2200" b="1" cap="none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8993" y="729273"/>
            <a:ext cx="2232248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8. Payment Cleared</a:t>
            </a:r>
            <a:endParaRPr lang="en-IN" b="1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C:\Users\DELL\Pictures\Screenshots\Screenshot 2026-05-10 165732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07" y="1340768"/>
            <a:ext cx="4320480" cy="2376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C:\Users\DELL\Pictures\Screenshots\Screenshot 2026-05-10 165803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638" y="1340768"/>
            <a:ext cx="4392488" cy="237626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134046" y="4221088"/>
            <a:ext cx="84969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accent4"/>
              </a:buClr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Detailed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invoice verification page displaying complete authentication analysis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Clr>
                <a:schemeClr val="accent4"/>
              </a:buClr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Payment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Cleared Notification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18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DELL\Pictures\Screenshots\Screenshot 2026-05-10 164306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06" y="1484784"/>
            <a:ext cx="4307433" cy="22610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601136" y="836712"/>
            <a:ext cx="3739165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9. </a:t>
            </a:r>
            <a:r>
              <a:rPr lang="en-IN" b="1" dirty="0" err="1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Proced</a:t>
            </a:r>
            <a:r>
              <a:rPr lang="en-IN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 with detailed verification </a:t>
            </a:r>
            <a:endParaRPr lang="en-IN" b="1" dirty="0">
              <a:solidFill>
                <a:schemeClr val="accent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C:\Users\DELL\Pictures\Screenshots\Screenshot 2026-05-10 164334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638" y="1484784"/>
            <a:ext cx="4104456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6432180" y="836712"/>
            <a:ext cx="208268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10. Fraud </a:t>
            </a:r>
            <a:r>
              <a:rPr lang="en-IN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Analysis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4046" y="4221088"/>
            <a:ext cx="8712968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accent4"/>
              </a:buClr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View Invoice Details → ID, Vendor, Amounts, Bank Account, Status</a:t>
            </a:r>
          </a:p>
          <a:p>
            <a:pPr marL="285750" lvl="0" indent="-285750" algn="just">
              <a:lnSpc>
                <a:spcPct val="150000"/>
              </a:lnSpc>
              <a:buClr>
                <a:schemeClr val="accent4"/>
              </a:buClr>
              <a:buFont typeface="Wingdings" pitchFamily="2" charset="2"/>
              <a:buChar char="Ø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View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Key Feature Analysis → Invoice amount, processing days, vendor reliability, deviation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scores.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92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53897" y="1412776"/>
            <a:ext cx="4931311" cy="2120563"/>
          </a:xfrm>
          <a:prstGeom prst="rect">
            <a:avLst/>
          </a:prstGeom>
        </p:spPr>
      </p:pic>
      <p:pic>
        <p:nvPicPr>
          <p:cNvPr id="3" name="Picture 2" descr="C:\Users\DELL\Pictures\Screenshots\Screenshot 2026-05-10 170302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545" y="1412776"/>
            <a:ext cx="4032448" cy="26095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579562" y="836712"/>
            <a:ext cx="1702133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11. Block </a:t>
            </a:r>
            <a:r>
              <a:rPr lang="en-IN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Alert </a:t>
            </a:r>
          </a:p>
        </p:txBody>
      </p:sp>
      <p:sp>
        <p:nvSpPr>
          <p:cNvPr id="5" name="Rectangle 4"/>
          <p:cNvSpPr/>
          <p:nvPr/>
        </p:nvSpPr>
        <p:spPr>
          <a:xfrm>
            <a:off x="6427004" y="786955"/>
            <a:ext cx="212782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12. Verification </a:t>
            </a:r>
            <a:r>
              <a:rPr lang="en-IN" b="1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4046" y="4293096"/>
            <a:ext cx="9145016" cy="1286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Clr>
                <a:schemeClr val="accent4"/>
              </a:buClr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Switch to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tab → View all past verifications (Date, Invoice, Vendor, Amount, Risk %, Status)</a:t>
            </a:r>
          </a:p>
          <a:p>
            <a:pPr marL="285750" lvl="0" indent="-285750" algn="just">
              <a:lnSpc>
                <a:spcPct val="150000"/>
              </a:lnSpc>
              <a:buClr>
                <a:schemeClr val="accent4"/>
              </a:buClr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Click any row → Re-opens that invoice’s Risk Assessment details</a:t>
            </a:r>
          </a:p>
          <a:p>
            <a:pPr marL="285750" lvl="0" indent="-285750" algn="just">
              <a:lnSpc>
                <a:spcPct val="150000"/>
              </a:lnSpc>
              <a:buClr>
                <a:schemeClr val="accent4"/>
              </a:buClr>
              <a:buFont typeface="Wingdings" pitchFamily="2" charset="2"/>
              <a:buChar char="Ø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Click Logout → Session ended → Returns to Login screen</a:t>
            </a:r>
          </a:p>
        </p:txBody>
      </p:sp>
    </p:spTree>
    <p:extLst>
      <p:ext uri="{BB962C8B-B14F-4D97-AF65-F5344CB8AC3E}">
        <p14:creationId xmlns:p14="http://schemas.microsoft.com/office/powerpoint/2010/main" val="346495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69204" y="908720"/>
            <a:ext cx="3240360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sz="2200" b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94086" y="1772816"/>
            <a:ext cx="914501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accent4"/>
              </a:buClr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Invoice Fraud Detection and Financial Anomaly Monitoring System successfully uses Machine Learning techniques to detect fraudulent invoices and suspicious financial activities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automatically.</a:t>
            </a:r>
          </a:p>
          <a:p>
            <a:pPr marL="285750" indent="-285750" algn="just">
              <a:lnSpc>
                <a:spcPct val="150000"/>
              </a:lnSpc>
              <a:buClr>
                <a:schemeClr val="accent4"/>
              </a:buCl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project improves financial security, reduces manual verification effort, and provides faster and more accurate fraud detection through an intelligent dashboard system.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24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336" y="2564904"/>
            <a:ext cx="1098512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Cambria" pitchFamily="18" charset="0"/>
                <a:cs typeface="Times New Roman" pitchFamily="18" charset="0"/>
              </a:rPr>
              <a:t>THANK YOU </a:t>
            </a:r>
            <a:endParaRPr lang="en-IN" sz="45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24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1841</TotalTime>
  <Words>976</Words>
  <Application>Microsoft Office PowerPoint</Application>
  <PresentationFormat>Custom</PresentationFormat>
  <Paragraphs>204</Paragraphs>
  <Slides>22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Horizon</vt:lpstr>
      <vt:lpstr>PowerPoint Presentation</vt:lpstr>
      <vt:lpstr>PowerPoint Presentation</vt:lpstr>
      <vt:lpstr>INTERNSHIP OVERVIEW</vt:lpstr>
      <vt:lpstr>PowerPoint Presentation</vt:lpstr>
      <vt:lpstr>PowerPoint Presentation</vt:lpstr>
      <vt:lpstr>Algorithms</vt:lpstr>
      <vt:lpstr>PowerPoint Presentation</vt:lpstr>
      <vt:lpstr> Deep Learning </vt:lpstr>
      <vt:lpstr>PowerPoint Presentation</vt:lpstr>
      <vt:lpstr>PowerPoint Presentation</vt:lpstr>
      <vt:lpstr>PROJECTS</vt:lpstr>
      <vt:lpstr>PowerPoint Presentation</vt:lpstr>
      <vt:lpstr>PowerPoint Presentation</vt:lpstr>
      <vt:lpstr>PowerPoint Presentation</vt:lpstr>
      <vt:lpstr>Result</vt:lpstr>
      <vt:lpstr>PowerPoint Presentation</vt:lpstr>
      <vt:lpstr>PowerPoint Presentation</vt:lpstr>
      <vt:lpstr> 7. Verification Page for safe invoice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127</cp:revision>
  <dcterms:created xsi:type="dcterms:W3CDTF">2026-01-07T08:06:36Z</dcterms:created>
  <dcterms:modified xsi:type="dcterms:W3CDTF">2026-05-14T19:04:41Z</dcterms:modified>
</cp:coreProperties>
</file>